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212593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466113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383514162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296702935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80804605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6293107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09393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5088937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74354216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5068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867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649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8E855A-C527-CF7E-8AFC-F36E3213FA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8091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8625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340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EFAA74-7082-87DC-2E7E-5E03B23461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66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67483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16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BA9DB-3C40-497D-89A1-6AED2452E4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6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260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8729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F1E52B-2A68-CC4C-ACD0-CD1F014C13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052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257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242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4ACEF0-4363-2BD5-DB29-4ADD11A58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10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32138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138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955EE-1521-0BAF-0824-65CE8C625D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719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557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120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44246-2DB5-1C19-6E18-689335ED53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949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4179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75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8BE2A3-6787-C254-5F63-08915A5FB7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355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2663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3760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4C17E2-504D-2950-9C0A-0AB7823C15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129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74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004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C88546-EFC0-61EF-AD32-8C9475D6F0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25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2079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498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5944F6-6524-669F-AE54-78737A1345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92174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629693937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575556859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8616390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82427535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295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47931187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7651769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44591442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987495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065391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989152199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25763527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67911689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2229777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5101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119070589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45594997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36195491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91853405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407016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426921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088251634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99943760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19214892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1328862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32042072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10744771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2637058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80229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321638057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04905800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75266902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001828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815306304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12108687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342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31555311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082648619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61247266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42262288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69778834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05631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27183405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206064183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49860958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2197180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847240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64840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88623083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890504908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963602204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8829472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263923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546250711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88810781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9346417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1675071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546619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8573133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2739174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78616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8650723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98607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76178140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6827592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0"/>
            <a:ext cx="12195147" cy="8123604"/>
          </a:xfrm>
          <a:prstGeom prst="rect">
            <a:avLst/>
          </a:prstGeom>
        </p:spPr>
      </p:pic>
      <p:sp>
        <p:nvSpPr>
          <p:cNvPr id="1166907716" name=""/>
          <p:cNvSpPr txBox="1"/>
          <p:nvPr/>
        </p:nvSpPr>
        <p:spPr bwMode="auto">
          <a:xfrm rot="0" flipH="0" flipV="0">
            <a:off x="718974" y="2093097"/>
            <a:ext cx="10754771" cy="30178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b="1" i="0" u="none">
                <a:solidFill>
                  <a:srgbClr val="D4D4D4"/>
                </a:solidFill>
                <a:latin typeface="Segoe UI Semibold"/>
                <a:ea typeface="Segoe UI Semibold"/>
                <a:cs typeface="Segoe UI Semibold"/>
              </a:rPr>
              <a:t>Энтерпрайз за 0 рублей: кластеризация Proxmox VE, виртуальный роутер </a:t>
            </a:r>
            <a:endParaRPr sz="4800" b="1" i="0" u="none">
              <a:solidFill>
                <a:srgbClr val="D4D4D4"/>
              </a:solidFill>
              <a:latin typeface="Segoe UI Semibold"/>
              <a:ea typeface="Segoe UI Semibold"/>
              <a:cs typeface="Segoe UI Semibold"/>
            </a:endParaRPr>
          </a:p>
          <a:p>
            <a:pPr algn="ctr">
              <a:defRPr/>
            </a:pPr>
            <a:r>
              <a:rPr sz="4800" b="1" i="0" u="none">
                <a:solidFill>
                  <a:srgbClr val="D4D4D4"/>
                </a:solidFill>
                <a:latin typeface="Segoe UI Semibold"/>
                <a:ea typeface="Segoe UI Semibold"/>
                <a:cs typeface="Segoe UI Semibold"/>
              </a:rPr>
              <a:t>и грабли, о которых молчат</a:t>
            </a:r>
            <a:endParaRPr sz="4800"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82737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826789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-56397"/>
            <a:ext cx="12195147" cy="8123603"/>
          </a:xfrm>
          <a:prstGeom prst="rect">
            <a:avLst/>
          </a:prstGeom>
        </p:spPr>
      </p:pic>
      <p:sp>
        <p:nvSpPr>
          <p:cNvPr id="1973597818" name=""/>
          <p:cNvSpPr txBox="1"/>
          <p:nvPr/>
        </p:nvSpPr>
        <p:spPr bwMode="auto">
          <a:xfrm rot="0" flipH="0" flipV="0">
            <a:off x="464358" y="244390"/>
            <a:ext cx="866101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Почему </a:t>
            </a:r>
            <a:r>
              <a:rPr lang="en-US" sz="360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ProxmoxVE?</a:t>
            </a:r>
            <a:endParaRPr/>
          </a:p>
        </p:txBody>
      </p:sp>
      <p:sp>
        <p:nvSpPr>
          <p:cNvPr id="1319947528" name=""/>
          <p:cNvSpPr txBox="1"/>
          <p:nvPr/>
        </p:nvSpPr>
        <p:spPr bwMode="auto">
          <a:xfrm rot="0" flipH="0" flipV="0">
            <a:off x="125970" y="1127960"/>
            <a:ext cx="6790882" cy="557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01271" indent="-201271">
              <a:buAutoNum type="arabicPeriod"/>
              <a:defRPr/>
            </a:pP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Политика Broadcom и смерть VMware: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Конские ценники, отмена бессрочных лицензий и выкручивание рук бизнесу.</a:t>
            </a:r>
            <a:endParaRPr sz="2000"/>
          </a:p>
          <a:p>
            <a:pPr>
              <a:defRPr/>
            </a:pPr>
            <a:r>
              <a:rPr lang="en-US"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2. </a:t>
            </a: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Честный Open Source: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Под капотом старый добрый Debian. Никаких искусственных ограничений и платы за сокеты.</a:t>
            </a:r>
            <a:endParaRPr sz="2000"/>
          </a:p>
          <a:p>
            <a:pPr>
              <a:defRPr/>
            </a:pPr>
            <a:r>
              <a:rPr lang="en-US"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3. </a:t>
            </a: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Всё-в-одном (KVM + LXC):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Полноценные виртуальные машины и легковесные контейнеры в одной веб-морде.</a:t>
            </a:r>
            <a:endParaRPr sz="2000"/>
          </a:p>
          <a:p>
            <a:pPr>
              <a:defRPr/>
            </a:pPr>
            <a:r>
              <a:rPr lang="en-US"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4. </a:t>
            </a: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Поддержка энтерпрайз-хранилищ «из коробки»: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ZFS, Ceph и LVM-Thin без покупки дорогих SAN/NAS-систем.</a:t>
            </a:r>
            <a:endParaRPr sz="2000"/>
          </a:p>
          <a:p>
            <a:pPr>
              <a:defRPr/>
            </a:pP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Киллер-фичи:</a:t>
            </a:r>
            <a:endParaRPr sz="2000"/>
          </a:p>
          <a:p>
            <a:pPr marL="201271" indent="-201271">
              <a:buAutoNum type="arabicPeriod"/>
              <a:defRPr/>
            </a:pP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Снапшоты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откат системы за 3 секунды.</a:t>
            </a:r>
            <a:endParaRPr sz="2000"/>
          </a:p>
          <a:p>
            <a:pPr>
              <a:defRPr/>
            </a:pPr>
            <a:r>
              <a:rPr lang="en-US"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2. </a:t>
            </a: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Шаблоны + Cloud-Init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развёртывание нового сервера за 5 секунд.</a:t>
            </a:r>
            <a:endParaRPr sz="2000"/>
          </a:p>
          <a:p>
            <a:pPr>
              <a:defRPr/>
            </a:pPr>
            <a:r>
              <a:rPr lang="en-US"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3. </a:t>
            </a:r>
            <a:r>
              <a:rPr sz="20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Живая миграция и HA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- </a:t>
            </a:r>
            <a:r>
              <a:rPr sz="20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отказоустойчивость уровня Enterprise бесплатно.</a:t>
            </a:r>
            <a:endParaRPr sz="240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4106188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973873" y="1794459"/>
            <a:ext cx="5219699" cy="346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26540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561011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-50131"/>
            <a:ext cx="12195147" cy="8123603"/>
          </a:xfrm>
          <a:prstGeom prst="rect">
            <a:avLst/>
          </a:prstGeom>
        </p:spPr>
      </p:pic>
      <p:sp>
        <p:nvSpPr>
          <p:cNvPr id="1918730258" name=""/>
          <p:cNvSpPr txBox="1"/>
          <p:nvPr/>
        </p:nvSpPr>
        <p:spPr bwMode="auto">
          <a:xfrm rot="0" flipH="0" flipV="0">
            <a:off x="464358" y="244390"/>
            <a:ext cx="866497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Выбор файловой системы</a:t>
            </a:r>
            <a:endParaRPr/>
          </a:p>
        </p:txBody>
      </p:sp>
      <p:sp>
        <p:nvSpPr>
          <p:cNvPr id="1546448335" name=""/>
          <p:cNvSpPr txBox="1"/>
          <p:nvPr/>
        </p:nvSpPr>
        <p:spPr bwMode="auto">
          <a:xfrm rot="0" flipH="0" flipV="0">
            <a:off x="608486" y="1127960"/>
            <a:ext cx="11247833" cy="5456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Почему не ZFS (хоть он и из коробки)?</a:t>
            </a:r>
            <a:endParaRPr sz="2200"/>
          </a:p>
          <a:p>
            <a:pPr marL="327936" indent="-327936">
              <a:buAutoNum type="arabicPeriod"/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Ест оперативку: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Кэш ARC по умолчанию забирает до 50% всей RAM хоста.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2. Убивает потребительские SSD: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Огромный </a:t>
            </a:r>
            <a:r>
              <a:rPr sz="2200" b="0" i="1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Write Amplification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стирает бюджетные диски в труху за полгода.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4. Требует серверные Enterprise-диски с защитой от потери питания (PLP).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Почему наш выбор - LVM-Thin + ext4:</a:t>
            </a:r>
            <a:endParaRPr sz="2200"/>
          </a:p>
          <a:p>
            <a:pPr marL="327936" indent="-327936">
              <a:buAutoNum type="arabicPeriod"/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0% оверхеда по RAM: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Вся память достается виртуалкам, а не файловой системе.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2. Бережёт ресурс дисков: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Дешёвые SSD живут годами в обычном режиме.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3. онкие диски (Thin Provisioning):</a:t>
            </a: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 Виртуалка занимает ровно столько места, сколько реально весят данные.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4. Поддержка моментальных снапшотов.</a:t>
            </a:r>
            <a:endParaRPr sz="2200"/>
          </a:p>
          <a:p>
            <a:pPr>
              <a:defRPr/>
            </a:pPr>
            <a:r>
              <a:rPr sz="2200" b="1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Главный нюанс LVM-Thin в кластере: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Нет встроенной репликации дисков по сети (в отличие от ZFS Replication).</a:t>
            </a:r>
            <a:endParaRPr sz="2200"/>
          </a:p>
          <a:p>
            <a:pPr>
              <a:defRPr/>
            </a:pPr>
            <a:r>
              <a:rPr sz="2200" b="0" i="0" u="none">
                <a:solidFill>
                  <a:srgbClr val="D4D4D4"/>
                </a:solidFill>
                <a:latin typeface="Arial"/>
                <a:ea typeface="Arial"/>
                <a:cs typeface="Arial"/>
              </a:rPr>
              <a:t>Для живой миграции без простоя виртуалки перекачиваются по сети целиком, либо выносятся на общий NAS/NFS.</a:t>
            </a:r>
            <a:endParaRPr sz="240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18240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832247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8123603"/>
          </a:xfrm>
          <a:prstGeom prst="rect">
            <a:avLst/>
          </a:prstGeom>
        </p:spPr>
      </p:pic>
      <p:sp>
        <p:nvSpPr>
          <p:cNvPr id="33570309" name=""/>
          <p:cNvSpPr txBox="1"/>
          <p:nvPr/>
        </p:nvSpPr>
        <p:spPr bwMode="auto">
          <a:xfrm rot="0" flipH="0" flipV="0">
            <a:off x="464358" y="244390"/>
            <a:ext cx="865237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ШАГ 0: Первые команды после установки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830357572" name=""/>
          <p:cNvSpPr txBox="1"/>
          <p:nvPr/>
        </p:nvSpPr>
        <p:spPr bwMode="auto">
          <a:xfrm rot="0" flipH="0" flipV="0">
            <a:off x="395426" y="1690686"/>
            <a:ext cx="11459931" cy="4846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1.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Сносим платный репозиторий: rm -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f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.../pve-enterprise.list</a:t>
            </a:r>
            <a:b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2.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Подключаем бесплатный: pve-no-subscription</a:t>
            </a:r>
            <a:b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# PVE no-subscription repository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deb http://download.proxmox.com/debian/pve bookworm pve-no-subscription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3.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Глушим окно подписки: скрипт sed в один клик</a:t>
            </a:r>
            <a:b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sed -Ezi.bak "s/(Ext.Msg.show\(\{\s+title: gettext\('No valid sub)/void\(\{ \/\/\1/g" /usr/share/javascript/proxmox-widget-toolkit/proxmoxlib.js &amp;&amp; systemctl restart pveproxy.service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53784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881579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2" y="6265"/>
            <a:ext cx="12195146" cy="8123602"/>
          </a:xfrm>
          <a:prstGeom prst="rect">
            <a:avLst/>
          </a:prstGeom>
        </p:spPr>
      </p:pic>
      <p:sp>
        <p:nvSpPr>
          <p:cNvPr id="516608480" name=""/>
          <p:cNvSpPr txBox="1"/>
          <p:nvPr/>
        </p:nvSpPr>
        <p:spPr bwMode="auto">
          <a:xfrm rot="0" flipH="0" flipV="0">
            <a:off x="464357" y="244389"/>
            <a:ext cx="8652376" cy="11890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ШАГ 0: Первые команды после установки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2073000615" name=""/>
          <p:cNvSpPr txBox="1"/>
          <p:nvPr/>
        </p:nvSpPr>
        <p:spPr bwMode="auto">
          <a:xfrm rot="0" flipH="0" flipV="0">
            <a:off x="395426" y="1690686"/>
            <a:ext cx="6724110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apt update &amp;&amp; apt dist-upgrade -y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⚠️ ALARM! ACHTUNG! WARNING!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⚠️ 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Забудь про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apt upgrade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! 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Только 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apt dist-upgrade</a:t>
            </a: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! Иначе: сломанные зависимости и Kernel Panic после  перезагрузки. 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Докидываем набор для выживания: 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apt install curl sudo htop iftop ethtool traceroute tcpdump</a:t>
            </a:r>
            <a:endParaRPr lang="ru-RU" sz="24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125348623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294143" y="838929"/>
            <a:ext cx="4762498" cy="54387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3644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0085936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6879883"/>
          </a:xfrm>
          <a:prstGeom prst="rect">
            <a:avLst/>
          </a:prstGeom>
        </p:spPr>
      </p:pic>
      <p:sp>
        <p:nvSpPr>
          <p:cNvPr id="1782071545" name=""/>
          <p:cNvSpPr txBox="1"/>
          <p:nvPr/>
        </p:nvSpPr>
        <p:spPr bwMode="auto">
          <a:xfrm rot="0" flipH="0" flipV="0">
            <a:off x="464358" y="244390"/>
            <a:ext cx="865201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ШАГ 1: Разделение сети и подготовка к роутеру</a:t>
            </a:r>
            <a:endParaRPr/>
          </a:p>
        </p:txBody>
      </p:sp>
      <p:sp>
        <p:nvSpPr>
          <p:cNvPr id="1517821315" name=""/>
          <p:cNvSpPr txBox="1"/>
          <p:nvPr/>
        </p:nvSpPr>
        <p:spPr bwMode="auto">
          <a:xfrm rot="0" flipH="0" flipV="0">
            <a:off x="608486" y="1690687"/>
            <a:ext cx="5127393" cy="423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auto lo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iface lo inet loopback</a:t>
            </a:r>
            <a:b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iface eno1 inet manual</a:t>
            </a:r>
            <a:b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iface eno2 inet manual</a:t>
            </a:r>
            <a:b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auto vmbr0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iface vmbr0 inet static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address 192.168.1.10/24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gateway 192.168.1.1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bridge-ports eno1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bridge-stp off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bridge-fd 0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bridge-vlan-aware yes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bridge-vids 2-4094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comment "LAN"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sp>
        <p:nvSpPr>
          <p:cNvPr id="1184039900" name=""/>
          <p:cNvSpPr txBox="1"/>
          <p:nvPr/>
        </p:nvSpPr>
        <p:spPr bwMode="auto">
          <a:xfrm rot="0" flipH="0" flipV="0">
            <a:off x="4790367" y="1690687"/>
            <a:ext cx="2655708" cy="1737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auto vmbr1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iface vmbr1 inet manual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bridge-ports eno2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bridge-stp off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bridge-fd 0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   comment "WAN"</a:t>
            </a:r>
            <a:endParaRPr sz="160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6754039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446074" y="3446207"/>
            <a:ext cx="4325713" cy="286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46501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831960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6861759"/>
          </a:xfrm>
          <a:prstGeom prst="rect">
            <a:avLst/>
          </a:prstGeom>
        </p:spPr>
      </p:pic>
      <p:sp>
        <p:nvSpPr>
          <p:cNvPr id="240895364" name=""/>
          <p:cNvSpPr txBox="1"/>
          <p:nvPr/>
        </p:nvSpPr>
        <p:spPr bwMode="auto">
          <a:xfrm rot="0" flipH="0" flipV="0">
            <a:off x="464358" y="244390"/>
            <a:ext cx="865381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ШАГ 2: Тонкий тюнинг OPNsense и «грабля века»</a:t>
            </a:r>
            <a:r>
              <a:rPr/>
              <a:t>    </a:t>
            </a:r>
            <a:endParaRPr/>
          </a:p>
        </p:txBody>
      </p:sp>
      <p:sp>
        <p:nvSpPr>
          <p:cNvPr id="297649900" name=""/>
          <p:cNvSpPr txBox="1"/>
          <p:nvPr/>
        </p:nvSpPr>
        <p:spPr bwMode="auto">
          <a:xfrm rot="0" flipH="0" flipV="0">
            <a:off x="608486" y="1461907"/>
            <a:ext cx="5396131" cy="4755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CPU Type =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host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(ОБЯЗАТЕЛЬНО!):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Пробрасывает инструкции процессора и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AES-NI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. Без этого WireGuard или OpenVPN сожрут процессор уже на скорости 100 Мбит/с.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Сеть: VirtIO + Multiqueue: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Включаем Multiqueue = числу ядер CPU. Гипервизор начинает параллелить поток пакетов по всем ядрам, а не долбить одно.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Диск: VirtIO SCSI + галка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Discard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Включает команду TRIM для нашего LVM-Thin, чтобы удаленные логи роутера реально освобождали место на SSD.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QEMU Guest Agent: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Ставим плагин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os-qemu-guest-agent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в OPNsense для красивого отображения IP в вебке PVE и мягкого выключения без повреждения базы.</a:t>
            </a:r>
            <a:endParaRPr sz="180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sp>
        <p:nvSpPr>
          <p:cNvPr id="1463696113" name=""/>
          <p:cNvSpPr txBox="1"/>
          <p:nvPr/>
        </p:nvSpPr>
        <p:spPr bwMode="auto">
          <a:xfrm rot="0" flipH="0" flipV="0">
            <a:off x="6328179" y="1385357"/>
            <a:ext cx="5865394" cy="4831790"/>
          </a:xfrm>
          <a:prstGeom prst="rect">
            <a:avLst/>
          </a:prstGeom>
          <a:noFill/>
        </p:spPr>
        <p:txBody>
          <a:bodyPr vertOverflow="overflow" horzOverflow="overflow" vert="vert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2031259750" name=""/>
          <p:cNvSpPr/>
          <p:nvPr/>
        </p:nvSpPr>
        <p:spPr bwMode="auto">
          <a:xfrm flipH="0" flipV="0">
            <a:off x="6561611" y="1461907"/>
            <a:ext cx="5586857" cy="3396825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⚠️ ГРАБЛЯ ВЕКА: Checksum Offloading                                                       Симптом: Роутер работает, но интернет на клиентах умирает, картинки не грузятся, сайты открываются через один.                                           </a:t>
            </a: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Причина: FreeBSD пытается переложить расчет сумм на чип сетевухи, а у нас VirtIO. Пакеты бьются и дропаются.                                                   ЛЕЧЕНИЕ В OPNsense: </a:t>
            </a: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System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➔ Settings ➔ Networking:                  </a:t>
            </a: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Disable Hardware Checksum Offload            </a:t>
            </a: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Disable Hardware TCP Segmentation Offload (TSO) </a:t>
            </a: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Disable Hardware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Large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Receive Offload (LRO)   </a:t>
            </a:r>
            <a:r>
              <a:rPr sz="1000" b="0" i="0" u="none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45829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072101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6861759"/>
          </a:xfrm>
          <a:prstGeom prst="rect">
            <a:avLst/>
          </a:prstGeom>
        </p:spPr>
      </p:pic>
      <p:sp>
        <p:nvSpPr>
          <p:cNvPr id="1786436191" name=""/>
          <p:cNvSpPr txBox="1"/>
          <p:nvPr/>
        </p:nvSpPr>
        <p:spPr bwMode="auto">
          <a:xfrm rot="0" flipH="0" flipV="0">
            <a:off x="464358" y="244390"/>
            <a:ext cx="865417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ШАГ 3: Кластеризация, кворум и ловушка двух нод</a:t>
            </a:r>
            <a:endParaRPr/>
          </a:p>
        </p:txBody>
      </p:sp>
      <p:sp>
        <p:nvSpPr>
          <p:cNvPr id="806203112" name=""/>
          <p:cNvSpPr txBox="1"/>
          <p:nvPr/>
        </p:nvSpPr>
        <p:spPr bwMode="auto">
          <a:xfrm rot="0" flipH="0" flipV="0">
            <a:off x="608485" y="1433470"/>
            <a:ext cx="8023212" cy="475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Демократия серверов (Кворум):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Для принятия решений и записи конфигов в кластере должно быть строго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больше половины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живых голосов (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50% + 1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).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Ловушка двух нод (Split-Brain):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Если серверов всего два, моргание сетевого свитча делит кластер пополам (1:1).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Ни у кого нет большинства ➔ кворум потерян ➔ кластер блокирует запись конфигов (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read-only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) и замирает в панике.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Костыль-спаситель QDevice: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Легковесный демон на Raspberry Pi или копеечной VPS за 100 рублей. Отдаёт кластеру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третий голос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(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2 ноды + 1 арбитр = 3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).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При падении одного сервера у второго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остаётся 2 голоса из 3 -кворум есть, кластер живёт!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Сеть Corosync: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Шлёт heartbeat-пакеты каждые пару миллисекунд. Задержка выше 30-50 мс = смерть ноды. Не гоняйте по этому линку бэкапы!</a:t>
            </a:r>
            <a:endParaRPr sz="180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pic>
        <p:nvPicPr>
          <p:cNvPr id="144594137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630259" y="1153026"/>
            <a:ext cx="3410200" cy="341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98354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4801839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6861759"/>
          </a:xfrm>
          <a:prstGeom prst="rect">
            <a:avLst/>
          </a:prstGeom>
        </p:spPr>
      </p:pic>
      <p:sp>
        <p:nvSpPr>
          <p:cNvPr id="723005600" name=""/>
          <p:cNvSpPr txBox="1"/>
          <p:nvPr/>
        </p:nvSpPr>
        <p:spPr bwMode="auto">
          <a:xfrm rot="0" flipH="0" flipV="0">
            <a:off x="464358" y="244390"/>
            <a:ext cx="865345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Роутер в кластере: Что делать, если нода сгорела?</a:t>
            </a:r>
            <a:endParaRPr lang="ru-RU" sz="3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  <p:sp>
        <p:nvSpPr>
          <p:cNvPr id="1310627276" name=""/>
          <p:cNvSpPr txBox="1"/>
          <p:nvPr/>
        </p:nvSpPr>
        <p:spPr bwMode="auto">
          <a:xfrm rot="0" flipH="0" flipV="0">
            <a:off x="608486" y="1585520"/>
            <a:ext cx="11237753" cy="474820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Вариант 1: Встроенный Proxmox HA (Путь ленивых)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PVE видит смерть ноды ➔ ждет таймаут 1-2 минуты ➔ стартует роутер на соседнем сервере.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Минусы: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Простой сети 2-3 минуты, обрыв всех сессий и VPN, юзеры орут.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Нюанс LVM-Thin: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Диск роутера должен лежать на общем сетевом хранилище (NFS/NAS), иначе виртуалке тупо неоткуда запуститься.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Вариант 2: Два роутера + CARP (Инженерный путь самурая)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Поднимаем 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два независимых OPNsense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на разных серверах:</a:t>
            </a:r>
            <a:endParaRPr lang="ru-RU"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OPNsense-Master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на Ноде 1 (LAN IP: 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192.168.1.2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)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OPNsense-Backup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на Ноде 2 (LAN IP: 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192.168.1.3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)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Плавающий Virtual IP (VIP):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например 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192.168.1.1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- общий шлюз для клиентов.</a:t>
            </a:r>
            <a:endParaRPr lang="ru-RU"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Протокол pfsync: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роутеры непрерывно синхронизируют таблицу открытых соединений фаервола по сети.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ea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Результат при аварии ноды:</a:t>
            </a:r>
            <a:b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Нода 1 падает ➔ второй роутер перехватывает шлюз за 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0.5 секунды</a:t>
            </a:r>
            <a:r>
              <a:rPr lang="ru-RU" sz="1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. Звонки в Zoom и видеопотоки даже не заикаются.</a:t>
            </a:r>
            <a:endParaRPr sz="16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96240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91487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3" y="6266"/>
            <a:ext cx="12195147" cy="6861759"/>
          </a:xfrm>
          <a:prstGeom prst="rect">
            <a:avLst/>
          </a:prstGeom>
        </p:spPr>
      </p:pic>
      <p:sp>
        <p:nvSpPr>
          <p:cNvPr id="332397993" name=""/>
          <p:cNvSpPr txBox="1"/>
          <p:nvPr/>
        </p:nvSpPr>
        <p:spPr bwMode="auto">
          <a:xfrm rot="0" flipH="0" flipV="0">
            <a:off x="464358" y="244390"/>
            <a:ext cx="8652377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Автоматизация: Шаблоны VM и магия Linked Clone</a:t>
            </a:r>
            <a:r>
              <a:rPr/>
              <a:t> </a:t>
            </a:r>
            <a:endParaRPr/>
          </a:p>
        </p:txBody>
      </p:sp>
      <p:sp>
        <p:nvSpPr>
          <p:cNvPr id="811874063" name=""/>
          <p:cNvSpPr txBox="1"/>
          <p:nvPr/>
        </p:nvSpPr>
        <p:spPr bwMode="auto">
          <a:xfrm rot="0" flipH="0" flipV="0">
            <a:off x="608486" y="1433471"/>
            <a:ext cx="11234513" cy="47552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Зачем нужны шаблоны (Templates)?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Конец ручной установке ОС через ISO. Чистый образ настраивается один раз, превращается в шаблон, а дальше новые серверы клонируются за секунды.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Связанный клон (Linked Clone) против Полного (Full Clone):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Full Clone: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Независимая копия диска. Клонируется дольше, дублирует размер оригинала (жрёт место на LVM-Thin).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Linked Clone: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Базируется на механизме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Copy-on-Write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. Клон создаётся ровно за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2 секунды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!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Виртуалка читает базовую ОС из шаблона, а пишет только изменения. 10 серверов занимают не 200 ГБ, а всего 5–10 ГБ.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Магия Cloud-Init (Автоконфигурация на лету):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Прямо из веб-интерфейса Proxmox без входа в виртуалку нарезаются: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Имя хоста и пользователь.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Пароли и SSH-ключи.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Статическая сеть или DHCP.</a:t>
            </a: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Результат: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Развёртывание нового боевого сервера с Docker или базой данных занимает меньше 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10 секунд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в пару кликов мыши.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312881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742180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572" y="6265"/>
            <a:ext cx="12195146" cy="6861758"/>
          </a:xfrm>
          <a:prstGeom prst="rect">
            <a:avLst/>
          </a:prstGeom>
        </p:spPr>
      </p:pic>
      <p:sp>
        <p:nvSpPr>
          <p:cNvPr id="1809669906" name=""/>
          <p:cNvSpPr txBox="1"/>
          <p:nvPr/>
        </p:nvSpPr>
        <p:spPr bwMode="auto">
          <a:xfrm rot="0" flipH="0" flipV="0">
            <a:off x="464357" y="244390"/>
            <a:ext cx="64300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6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Заповеди </a:t>
            </a:r>
            <a:endParaRPr/>
          </a:p>
        </p:txBody>
      </p:sp>
      <p:sp>
        <p:nvSpPr>
          <p:cNvPr id="1841520021" name=""/>
          <p:cNvSpPr txBox="1"/>
          <p:nvPr/>
        </p:nvSpPr>
        <p:spPr bwMode="auto">
          <a:xfrm rot="0" flipH="0" flipV="0">
            <a:off x="608485" y="2216776"/>
            <a:ext cx="6674486" cy="3932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1.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Не трогай, пока работает. Руки чешутся нажать «обновить всё» в пятницу в 17:30? Привяжи руки к стулу скотчем. Потерпи до понедельника.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2.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Делай бэкапы. Админы делятся на две категории: те, кто ещё не делают бэкапы, и те, кто теперь делают бэкапы даже для бэкапов. В виртуалке роутера бэкапься хотя бы локальным экспортом XML-конфига раз в неделю.</a:t>
            </a:r>
            <a:b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</a:br>
            <a:endParaRPr lang="ru-RU" sz="1800" b="0" i="0" u="none" strike="noStrike" cap="none" spc="0">
              <a:solidFill>
                <a:schemeClr val="bg1"/>
              </a:solidFill>
              <a:latin typeface="Segoe UI Semibold"/>
              <a:cs typeface="Segoe UI Semibold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3.</a:t>
            </a:r>
            <a:r>
              <a:rPr lang="ru-RU" sz="1800" b="0" i="0" u="none" strike="noStrike" cap="none" spc="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 Если всё всё-таки сломалось - у тебя всегда есть универсальная мантра сисадмина: «Это не я, это у провайдера авария на магистрали». Даёт примерно 40 минут форы, пока сотрудники пьют кофе, а ты с горящими глазами поднимаешь упавшую ноду.</a:t>
            </a:r>
            <a:endParaRPr/>
          </a:p>
        </p:txBody>
      </p:sp>
      <p:pic>
        <p:nvPicPr>
          <p:cNvPr id="18059185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75722" y="157291"/>
            <a:ext cx="4850229" cy="2546370"/>
          </a:xfrm>
          <a:prstGeom prst="rect">
            <a:avLst/>
          </a:prstGeom>
        </p:spPr>
      </p:pic>
      <p:pic>
        <p:nvPicPr>
          <p:cNvPr id="171840131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7951251" y="2703662"/>
            <a:ext cx="3698714" cy="4077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24026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0303263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0" y="-6266"/>
            <a:ext cx="12195147" cy="6871535"/>
          </a:xfrm>
          <a:prstGeom prst="rect">
            <a:avLst/>
          </a:prstGeom>
        </p:spPr>
      </p:pic>
      <p:pic>
        <p:nvPicPr>
          <p:cNvPr id="201779750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89568" y="1690687"/>
            <a:ext cx="8016009" cy="4505261"/>
          </a:xfrm>
          <a:prstGeom prst="rect">
            <a:avLst/>
          </a:prstGeom>
        </p:spPr>
      </p:pic>
      <p:sp>
        <p:nvSpPr>
          <p:cNvPr id="1912391866" name=""/>
          <p:cNvSpPr txBox="1"/>
          <p:nvPr/>
        </p:nvSpPr>
        <p:spPr bwMode="auto">
          <a:xfrm rot="0" flipH="0" flipV="0">
            <a:off x="2794132" y="365124"/>
            <a:ext cx="6606882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>
                <a:solidFill>
                  <a:schemeClr val="bg1"/>
                </a:solidFill>
                <a:latin typeface="Segoe UI Semibold"/>
                <a:ea typeface="Segoe UI Semibold"/>
                <a:cs typeface="Segoe UI Semibold"/>
              </a:rPr>
              <a:t>Спасибо за внимание</a:t>
            </a:r>
            <a:endParaRPr>
              <a:solidFill>
                <a:schemeClr val="bg1"/>
              </a:solidFill>
              <a:latin typeface="Segoe UI Semibold"/>
              <a:cs typeface="Segoe UI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Aspect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2026-10-24T07:19:32Z</dcterms:modified>
</cp:coreProperties>
</file>