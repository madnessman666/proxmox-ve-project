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46042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8316322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10/30/2013</a:t>
            </a:fld>
            <a:endParaRPr lang="ru-RU"/>
          </a:p>
        </p:txBody>
      </p:sp>
      <p:sp>
        <p:nvSpPr>
          <p:cNvPr id="1731575604" name="Рисунок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35747242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35921891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2862289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31653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123154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2907923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0376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25082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1693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8E855A-C527-CF7E-8AFC-F36E3213FA0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483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7515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024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FAA74-7082-87DC-2E7E-5E03B23461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1436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5184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339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DBA9DB-3C40-497D-89A1-6AED2452E4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86258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18851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114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4ACEF0-4363-2BD5-DB29-4ADD11A58B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4700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88859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9936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955EE-1521-0BAF-0824-65CE8C625D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9461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19542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337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44246-2DB5-1C19-6E18-689335ED53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6889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670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83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8BE2A3-6787-C254-5F63-08915A5FB7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5752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0897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C17E2-504D-2950-9C0A-0AB7823C15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055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7024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358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C88546-EFC0-61EF-AD32-8C9475D6F0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7408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53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3624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5944F6-6524-669F-AE54-78737A1345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792625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70343471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0803330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71240473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2446741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49392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739590536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46949056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6465158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404053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1055746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418094658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785634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49436849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5630557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94603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796571760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29277383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66802905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325821271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3651652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317430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244442546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15976213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2098257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495675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2136186473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174568020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75016445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42224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595554867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826833281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12652146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154328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71866855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24706205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8420878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37684601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37355732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912333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88951988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786415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837986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271764688" name="Рисунок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Нажмите, чтобы добавить изображение</a:t>
            </a:r>
            <a:endParaRPr lang="ru-RU"/>
          </a:p>
        </p:txBody>
      </p:sp>
      <p:sp>
        <p:nvSpPr>
          <p:cNvPr id="183499414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34298013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91645186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731628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87258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521935716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55630797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10053793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5560839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633926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2113678106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2320907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60505266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3311654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1163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786781438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522073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6434875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565347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13697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00082057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pic>
        <p:nvPicPr>
          <p:cNvPr id="14353208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0" y="0"/>
            <a:ext cx="12195147" cy="8123604"/>
          </a:xfrm>
          <a:prstGeom prst="rect">
            <a:avLst/>
          </a:prstGeom>
        </p:spPr>
      </p:pic>
      <p:sp>
        <p:nvSpPr>
          <p:cNvPr id="811173374" name=""/>
          <p:cNvSpPr txBox="1"/>
          <p:nvPr/>
        </p:nvSpPr>
        <p:spPr bwMode="auto">
          <a:xfrm rot="0" flipH="0" flipV="0">
            <a:off x="718974" y="2093097"/>
            <a:ext cx="10754771" cy="30178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 i="0" u="none">
                <a:solidFill>
                  <a:srgbClr val="D4D4D4"/>
                </a:solidFill>
                <a:latin typeface="Segoe UI Semibold"/>
                <a:ea typeface="Segoe UI Semibold"/>
                <a:cs typeface="Segoe UI Semibold"/>
              </a:rPr>
              <a:t>Энтерпрайз за 0 рублей: кластеризация Proxmox VE, виртуальный роутер </a:t>
            </a:r>
            <a:endParaRPr sz="4800" b="1" i="0" u="none">
              <a:solidFill>
                <a:srgbClr val="D4D4D4"/>
              </a:solidFill>
              <a:latin typeface="Segoe UI Semibold"/>
              <a:ea typeface="Segoe UI Semibold"/>
              <a:cs typeface="Segoe UI Semibold"/>
            </a:endParaRPr>
          </a:p>
          <a:p>
            <a:pPr algn="ctr">
              <a:defRPr/>
            </a:pPr>
            <a:r>
              <a:rPr sz="4800" b="1" i="0" u="none">
                <a:solidFill>
                  <a:srgbClr val="D4D4D4"/>
                </a:solidFill>
                <a:latin typeface="Segoe UI Semibold"/>
                <a:ea typeface="Segoe UI Semibold"/>
                <a:cs typeface="Segoe UI Semibold"/>
              </a:rPr>
              <a:t>и грабли, о которых молчат</a:t>
            </a:r>
            <a:endParaRPr sz="4800"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76417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788240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-56397"/>
            <a:ext cx="12195147" cy="8123603"/>
          </a:xfrm>
          <a:prstGeom prst="rect">
            <a:avLst/>
          </a:prstGeom>
        </p:spPr>
      </p:pic>
      <p:sp>
        <p:nvSpPr>
          <p:cNvPr id="1216073389" name=""/>
          <p:cNvSpPr txBox="1"/>
          <p:nvPr/>
        </p:nvSpPr>
        <p:spPr bwMode="auto">
          <a:xfrm rot="0" flipH="0" flipV="0">
            <a:off x="464358" y="244390"/>
            <a:ext cx="86610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Почему </a:t>
            </a:r>
            <a:r>
              <a:rPr lang="en-US" sz="36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ProxmoxVE?</a:t>
            </a:r>
            <a:endParaRPr/>
          </a:p>
        </p:txBody>
      </p:sp>
      <p:sp>
        <p:nvSpPr>
          <p:cNvPr id="208346454" name=""/>
          <p:cNvSpPr txBox="1"/>
          <p:nvPr/>
        </p:nvSpPr>
        <p:spPr bwMode="auto">
          <a:xfrm rot="0" flipH="0" flipV="0">
            <a:off x="125970" y="1127960"/>
            <a:ext cx="6790882" cy="5578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01271" indent="-201271">
              <a:buAutoNum type="arabicPeriod"/>
              <a:defRPr/>
            </a:pP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Политика Broadcom и смерть VMware: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Конские ценники, отмена бессрочных лицензий и выкручивание рук бизнесу.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Честный Open Source: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Под капотом старый добрый Debian. Никаких искусственных ограничений и платы за сокеты.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3.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Всё-в-одном (KVM + LXC):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Полноценные виртуальные машины и легковесные контейнеры в одной веб-морде.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4.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Поддержка энтерпрайз-хранилищ «из коробки»: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ZFS, Ceph и LVM-Thin без покупки дорогих SAN/NAS-систем.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Киллер-фичи:</a:t>
            </a:r>
            <a:endParaRPr sz="2000"/>
          </a:p>
          <a:p>
            <a:pPr marL="201271" indent="-201271">
              <a:buAutoNum type="arabicPeriod"/>
              <a:defRPr/>
            </a:pP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Снапшоты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- 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откат системы за 3 секунды.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Шаблоны + Cloud-Init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- 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развёртывание нового сервера за 5 секунд.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3.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Живая миграция и HA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- 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отказоустойчивость уровня Enterprise бесплатно.</a:t>
            </a:r>
            <a:endParaRPr sz="24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39207205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973873" y="1794459"/>
            <a:ext cx="5219699" cy="346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40412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302374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-50131"/>
            <a:ext cx="12195147" cy="8123603"/>
          </a:xfrm>
          <a:prstGeom prst="rect">
            <a:avLst/>
          </a:prstGeom>
        </p:spPr>
      </p:pic>
      <p:sp>
        <p:nvSpPr>
          <p:cNvPr id="718921" name=""/>
          <p:cNvSpPr txBox="1"/>
          <p:nvPr/>
        </p:nvSpPr>
        <p:spPr bwMode="auto">
          <a:xfrm rot="0" flipH="0" flipV="0">
            <a:off x="464358" y="244390"/>
            <a:ext cx="866497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Выбор файловой системы</a:t>
            </a:r>
            <a:endParaRPr/>
          </a:p>
        </p:txBody>
      </p:sp>
      <p:sp>
        <p:nvSpPr>
          <p:cNvPr id="856210980" name=""/>
          <p:cNvSpPr txBox="1"/>
          <p:nvPr/>
        </p:nvSpPr>
        <p:spPr bwMode="auto">
          <a:xfrm rot="0" flipH="0" flipV="0">
            <a:off x="608486" y="1127960"/>
            <a:ext cx="11247833" cy="54562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Почему не ZFS (хоть он и из коробки)?</a:t>
            </a:r>
            <a:endParaRPr sz="2200"/>
          </a:p>
          <a:p>
            <a:pPr marL="327936" indent="-327936">
              <a:buAutoNum type="arabicPeriod"/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Ест оперативку: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Кэш ARC по умолчанию забирает до 50% всей RAM хоста.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Убивает потребительские SSD: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Огромный </a:t>
            </a:r>
            <a:r>
              <a:rPr sz="2200" b="0" i="1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Write Amplification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стирает бюджетные диски в труху за полгода.</a:t>
            </a:r>
            <a:endParaRPr sz="2200"/>
          </a:p>
          <a:p>
            <a:pPr>
              <a:defRPr/>
            </a:pP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4. Требует серверные Enterprise-диски с защитой от потери питания (PLP).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Почему наш выбор - LVM-Thin + ext4:</a:t>
            </a:r>
            <a:endParaRPr sz="2200"/>
          </a:p>
          <a:p>
            <a:pPr marL="327936" indent="-327936">
              <a:buAutoNum type="arabicPeriod"/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0% оверхеда по RAM: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Вся память достается виртуалкам, а не файловой системе.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Бережёт ресурс дисков: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Дешёвые SSD живут годами в обычном режиме.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3. онкие диски (Thin Provisioning):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Виртуалка занимает ровно столько места, сколько реально весят данные.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4. Поддержка моментальных снапшотов.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Главный нюанс LVM-Thin в кластере:</a:t>
            </a:r>
            <a:endParaRPr sz="2200"/>
          </a:p>
          <a:p>
            <a:pPr>
              <a:defRPr/>
            </a:pP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Нет встроенной репликации дисков по сети (в отличие от ZFS Replication).</a:t>
            </a:r>
            <a:endParaRPr sz="2200"/>
          </a:p>
          <a:p>
            <a:pPr>
              <a:defRPr/>
            </a:pP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Для живой миграции без простоя виртуалки перекачиваются по сети целиком, либо выносятся на общий NAS/NFS.</a:t>
            </a:r>
            <a:endParaRPr sz="24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45985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954367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8123603"/>
          </a:xfrm>
          <a:prstGeom prst="rect">
            <a:avLst/>
          </a:prstGeom>
        </p:spPr>
      </p:pic>
      <p:sp>
        <p:nvSpPr>
          <p:cNvPr id="743601758" name=""/>
          <p:cNvSpPr txBox="1"/>
          <p:nvPr/>
        </p:nvSpPr>
        <p:spPr bwMode="auto">
          <a:xfrm rot="0" flipH="0" flipV="0">
            <a:off x="464358" y="244390"/>
            <a:ext cx="865237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0: Первые команды после установки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81584488" name=""/>
          <p:cNvSpPr txBox="1"/>
          <p:nvPr/>
        </p:nvSpPr>
        <p:spPr bwMode="auto">
          <a:xfrm rot="0" flipH="0" flipV="0">
            <a:off x="395427" y="1690687"/>
            <a:ext cx="6719431" cy="41679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1.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Сносим платный репозиторий: rm -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f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.../pve-enterprise.list</a:t>
            </a:r>
            <a:b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2.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Подключаем бесплатный: pve-no-subscription</a:t>
            </a:r>
            <a:b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3.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Глушим окно подписки: скрипт sed в один клик</a:t>
            </a:r>
            <a:b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b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⚠️ ALARM! ACHTUNG! WARNING!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⚠️ 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Забудь про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apt upgrade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! 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Только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apt dist-upgrade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! Иначе: сломанные зависимости и Kernel Panic после  перезагрузки. 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27939675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294144" y="838930"/>
            <a:ext cx="4762499" cy="5438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37845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1068911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79883"/>
          </a:xfrm>
          <a:prstGeom prst="rect">
            <a:avLst/>
          </a:prstGeom>
        </p:spPr>
      </p:pic>
      <p:sp>
        <p:nvSpPr>
          <p:cNvPr id="1507413696" name=""/>
          <p:cNvSpPr txBox="1"/>
          <p:nvPr/>
        </p:nvSpPr>
        <p:spPr bwMode="auto">
          <a:xfrm rot="0" flipH="0" flipV="0">
            <a:off x="464358" y="244390"/>
            <a:ext cx="865201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1: Разделение сети и подготовка к роутеру</a:t>
            </a:r>
            <a:endParaRPr/>
          </a:p>
        </p:txBody>
      </p:sp>
      <p:sp>
        <p:nvSpPr>
          <p:cNvPr id="913788398" name=""/>
          <p:cNvSpPr txBox="1"/>
          <p:nvPr/>
        </p:nvSpPr>
        <p:spPr bwMode="auto">
          <a:xfrm rot="0" flipH="0" flipV="0">
            <a:off x="608486" y="1690687"/>
            <a:ext cx="5127393" cy="423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auto lo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lo inet loopback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eno1 inet manual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eno2 inet manual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auto vmbr0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vmbr0 inet static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address 192.168.1.10/24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gateway 192.168.1.1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bridge-ports eno1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bridge-stp off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bridge-fd 0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bridge-vlan-aware yes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bridge-vids 2-4094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comment "LAN"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sp>
        <p:nvSpPr>
          <p:cNvPr id="1478534322" name=""/>
          <p:cNvSpPr txBox="1"/>
          <p:nvPr/>
        </p:nvSpPr>
        <p:spPr bwMode="auto">
          <a:xfrm rot="0" flipH="0" flipV="0">
            <a:off x="4790367" y="1690687"/>
            <a:ext cx="2655708" cy="1737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auto vmbr1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vmbr1 inet manual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bridge-ports eno2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bridge-stp off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bridge-fd 0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comment "WAN"</a:t>
            </a:r>
            <a:endParaRPr sz="16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121512700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446074" y="3446207"/>
            <a:ext cx="4325713" cy="2865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85052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785038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468973679" name=""/>
          <p:cNvSpPr txBox="1"/>
          <p:nvPr/>
        </p:nvSpPr>
        <p:spPr bwMode="auto">
          <a:xfrm rot="0" flipH="0" flipV="0">
            <a:off x="464358" y="244390"/>
            <a:ext cx="865381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2: Тонкий тюнинг OPNsense и «грабля века»</a:t>
            </a:r>
            <a:r>
              <a:rPr/>
              <a:t>    </a:t>
            </a:r>
            <a:endParaRPr/>
          </a:p>
        </p:txBody>
      </p:sp>
      <p:sp>
        <p:nvSpPr>
          <p:cNvPr id="1298836921" name=""/>
          <p:cNvSpPr txBox="1"/>
          <p:nvPr/>
        </p:nvSpPr>
        <p:spPr bwMode="auto">
          <a:xfrm rot="0" flipH="0" flipV="0">
            <a:off x="608486" y="1461907"/>
            <a:ext cx="5396131" cy="4755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CPU Type =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host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(ОБЯЗАТЕЛЬНО!):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Пробрасывает инструкции процессора и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AES-NI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 Без этого WireGuard или OpenVPN сожрут процессор уже на скорости 100 Мбит/с.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Сеть: VirtIO + Multiqueue: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Включаем Multiqueue = числу ядер CPU. Гипервизор начинает параллелить поток пакетов по всем ядрам, а не долбить одно.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Диск: VirtIO SCSI + галка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Discard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Включает команду TRIM для нашего LVM-Thin, чтобы удаленные логи роутера реально освобождали место на SSD.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QEMU Guest Agent: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Ставим плагин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os-qemu-guest-agent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в OPNsense для красивого отображения IP в вебке PVE и мягкого выключения без повреждения базы.</a:t>
            </a:r>
            <a:endParaRPr sz="18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sp>
        <p:nvSpPr>
          <p:cNvPr id="635571759" name=""/>
          <p:cNvSpPr txBox="1"/>
          <p:nvPr/>
        </p:nvSpPr>
        <p:spPr bwMode="auto">
          <a:xfrm rot="0" flipH="0" flipV="0">
            <a:off x="6328179" y="1385357"/>
            <a:ext cx="5865394" cy="4831790"/>
          </a:xfrm>
          <a:prstGeom prst="rect">
            <a:avLst/>
          </a:prstGeom>
          <a:noFill/>
        </p:spPr>
        <p:txBody>
          <a:bodyPr vertOverflow="overflow" horzOverflow="overflow" vert="vert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398111944" name=""/>
          <p:cNvSpPr/>
          <p:nvPr/>
        </p:nvSpPr>
        <p:spPr bwMode="auto">
          <a:xfrm flipH="0" flipV="0">
            <a:off x="6561611" y="1461907"/>
            <a:ext cx="5586857" cy="339682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⚠️ ГРАБЛЯ ВЕКА: Checksum Offloading                                                       Симптом: Роутер работает, но интернет на клиентах умирает, картинки не грузятся, сайты открываются через один.                                          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Причина: FreeBSD пытается переложить расчет сумм на чип сетевухи, а у нас VirtIO. Пакеты бьются и дропаются.                                                   ЛЕЧЕНИЕ В OPNsense: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System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➔ Settings ➔ Networking:                 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Disable Hardware Checksum Offload           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Disable Hardware TCP Segmentation Offload (TSO)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Disable Hardware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Large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Receive Offload (LRO)   </a:t>
            </a:r>
            <a:r>
              <a:rPr sz="1000" b="0" i="0" u="none">
                <a:solidFill>
                  <a:srgbClr val="D4D4D4"/>
                </a:solidFill>
                <a:latin typeface="Courier New"/>
                <a:ea typeface="Courier New"/>
                <a:cs typeface="Courier New"/>
              </a:rPr>
              <a:t>   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23349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4761865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1416534852" name=""/>
          <p:cNvSpPr txBox="1"/>
          <p:nvPr/>
        </p:nvSpPr>
        <p:spPr bwMode="auto">
          <a:xfrm rot="0" flipH="0" flipV="0">
            <a:off x="464358" y="244390"/>
            <a:ext cx="865417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3: Кластеризация, кворум и ловушка двух нод</a:t>
            </a:r>
            <a:endParaRPr/>
          </a:p>
        </p:txBody>
      </p:sp>
      <p:sp>
        <p:nvSpPr>
          <p:cNvPr id="1334405894" name=""/>
          <p:cNvSpPr txBox="1"/>
          <p:nvPr/>
        </p:nvSpPr>
        <p:spPr bwMode="auto">
          <a:xfrm rot="0" flipH="0" flipV="0">
            <a:off x="608486" y="1433471"/>
            <a:ext cx="8022852" cy="52880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Демократия серверов (Кворум):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Для принятия решений и записи конфигов в кластере должно быть строго 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больше половины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живых голосов (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50% + 1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).</a:t>
            </a:r>
            <a:endParaRPr sz="20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Ловушка двух нод (Split-Brain):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Если серверов всего два, моргание сетевого свитча делит кластер пополам (1:1).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Ни у кого нет большинства ➔ кворум потерян ➔ кластер блокирует запись конфигов (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read-only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 и замирает в панике.</a:t>
            </a:r>
            <a:endParaRPr sz="20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Костыль-спаситель QDevice: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Легковесный демон на Raspberry Pi или копеечной VPS за 100 рублей. Отдаёт кластеру 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третий голос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(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 ноды + 1 арбитр = 3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).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При падении одного сервера у второго 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остаётся 2 голоса из 3 -кворум есть, кластер живёт!</a:t>
            </a:r>
            <a:endParaRPr lang="ru-RU" sz="20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Сеть Corosync: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Шлёт heartbeat-пакеты каждые пару миллисекунд. Задержка выше 30-50 мс = смерть ноды. Не гоняйте по этому линку бэкапы!</a:t>
            </a:r>
            <a:endParaRPr sz="20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93838784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630259" y="1153026"/>
            <a:ext cx="3410200" cy="3410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15331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56079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263333424" name=""/>
          <p:cNvSpPr txBox="1"/>
          <p:nvPr/>
        </p:nvSpPr>
        <p:spPr bwMode="auto">
          <a:xfrm rot="0" flipH="0" flipV="0">
            <a:off x="464358" y="244390"/>
            <a:ext cx="865345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Роутер в кластере: Что делать, если нода сгорела?</a:t>
            </a:r>
            <a:endParaRPr lang="ru-RU" sz="3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sp>
        <p:nvSpPr>
          <p:cNvPr id="1088996587" name=""/>
          <p:cNvSpPr txBox="1"/>
          <p:nvPr/>
        </p:nvSpPr>
        <p:spPr bwMode="auto">
          <a:xfrm rot="0" flipH="0" flipV="0">
            <a:off x="608486" y="1585520"/>
            <a:ext cx="11237753" cy="474820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Вариант 1: Встроенный Proxmox HA (Путь ленивых)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PVE видит смерть ноды ➔ ждет таймаут 1-2 минуты ➔ стартует роутер на соседнем сервере.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Минусы: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Простой сети 2-3 минуты, обрыв всех сессий и VPN, юзеры орут.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Нюанс LVM-Thin: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Диск роутера должен лежать на общем сетевом хранилище (NFS/NAS), иначе виртуалке тупо неоткуда запуститься.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Вариант 2: Два роутера + CARP (Инженерный путь самурая)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Поднимаем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два независимых OPNsense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 разных серверах:</a:t>
            </a:r>
            <a:endParaRPr lang="ru-RU"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OPNsense-Master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 Ноде 1 (LAN IP: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192.168.1.2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OPNsense-Backup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 Ноде 2 (LAN IP: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192.168.1.3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Плавающий Virtual IP (VIP):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например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192.168.1.1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- общий шлюз для клиентов.</a:t>
            </a:r>
            <a:endParaRPr lang="ru-RU"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Протокол pfsync: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роутеры непрерывно синхронизируют таблицу открытых соединений фаервола по сети.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Результат при аварии ноды: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Нода 1 падает ➔ второй роутер перехватывает шлюз за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0.5 секунды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 Звонки в Zoom и видеопотоки даже не заикаются.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44887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0741291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778770773" name=""/>
          <p:cNvSpPr txBox="1"/>
          <p:nvPr/>
        </p:nvSpPr>
        <p:spPr bwMode="auto">
          <a:xfrm rot="0" flipH="0" flipV="0">
            <a:off x="464358" y="244390"/>
            <a:ext cx="865237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Автоматизация: Шаблоны VM и магия Linked Clone</a:t>
            </a:r>
            <a:r>
              <a:rPr/>
              <a:t> </a:t>
            </a:r>
            <a:endParaRPr/>
          </a:p>
        </p:txBody>
      </p:sp>
      <p:sp>
        <p:nvSpPr>
          <p:cNvPr id="69261195" name=""/>
          <p:cNvSpPr txBox="1"/>
          <p:nvPr/>
        </p:nvSpPr>
        <p:spPr bwMode="auto">
          <a:xfrm rot="0" flipH="0" flipV="0">
            <a:off x="608486" y="1433471"/>
            <a:ext cx="11234513" cy="4755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Зачем нужны шаблоны (Templates)?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Конец ручной установке ОС через ISO. Чистый образ настраивается один раз, превращается в шаблон, а дальше новые серверы клонируются за секунды.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Связанный клон (Linked Clone) против Полного (Full Clone):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Full Clone: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Независимая копия диска. Клонируется дольше, дублирует размер оригинала (жрёт место на LVM-Thin).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Linked Clone: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Базируется на механизме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Copy-on-Write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 Клон создаётся ровно за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 секунды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!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Виртуалка читает базовую ОС из шаблона, а пишет только изменения. 10 серверов занимают не 200 ГБ, а всего 5–10 ГБ.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Магия Cloud-Init (Автоконфигурация на лету):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Прямо из веб-интерфейса Proxmox без входа в виртуалку нарезаются: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Имя хоста и пользователь.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Пароли и SSH-ключи.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Статическая сеть или DHCP.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Результат: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Развёртывание нового боевого сервера с Docker или базой данных занимает меньше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10 секунд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в пару кликов мыши.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63956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411581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2" y="6265"/>
            <a:ext cx="12195146" cy="6861758"/>
          </a:xfrm>
          <a:prstGeom prst="rect">
            <a:avLst/>
          </a:prstGeom>
        </p:spPr>
      </p:pic>
      <p:sp>
        <p:nvSpPr>
          <p:cNvPr id="1866555560" name=""/>
          <p:cNvSpPr txBox="1"/>
          <p:nvPr/>
        </p:nvSpPr>
        <p:spPr bwMode="auto">
          <a:xfrm rot="0" flipH="0" flipV="0">
            <a:off x="464357" y="244390"/>
            <a:ext cx="643009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Заповеди </a:t>
            </a:r>
            <a:endParaRPr/>
          </a:p>
        </p:txBody>
      </p:sp>
      <p:sp>
        <p:nvSpPr>
          <p:cNvPr id="273931542" name=""/>
          <p:cNvSpPr txBox="1"/>
          <p:nvPr/>
        </p:nvSpPr>
        <p:spPr bwMode="auto">
          <a:xfrm rot="0" flipH="0" flipV="0">
            <a:off x="608485" y="2216776"/>
            <a:ext cx="6674487" cy="39322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1.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Не трогай, пока работает. Руки чешутся нажать «обновить всё» в пятницу в 17:30? Привяжи руки к стулу скотчем. Потерпи до понедельника.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2.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Делай бэкапы. Админы делятся на две категории: те, кто ещё не делают бэкапы, и те, кто теперь делают бэкапы даже для бэкапов. В виртуалке роутера бэкапься хотя бы локальным экспортом XML-конфига раз в неделю.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3.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Если всё всё-таки сломалось - у тебя всегда есть универсальная мантра сисадмина: «Это не я, это у провайдера авария на магистрали». Даёт примерно 40 минут форы, пока сотрудники пьют кофе, а ты с горящими глазами поднимаешь упавшую ноду.</a:t>
            </a:r>
            <a:endParaRPr/>
          </a:p>
        </p:txBody>
      </p:sp>
      <p:pic>
        <p:nvPicPr>
          <p:cNvPr id="117021105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175723" y="157291"/>
            <a:ext cx="4850229" cy="2546370"/>
          </a:xfrm>
          <a:prstGeom prst="rect">
            <a:avLst/>
          </a:prstGeom>
        </p:spPr>
      </p:pic>
      <p:pic>
        <p:nvPicPr>
          <p:cNvPr id="162031582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7951251" y="2703662"/>
            <a:ext cx="3698715" cy="40773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6394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208895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0" y="-6266"/>
            <a:ext cx="12195147" cy="6871535"/>
          </a:xfrm>
          <a:prstGeom prst="rect">
            <a:avLst/>
          </a:prstGeom>
        </p:spPr>
      </p:pic>
      <p:pic>
        <p:nvPicPr>
          <p:cNvPr id="194450881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089568" y="1690687"/>
            <a:ext cx="8016009" cy="4505261"/>
          </a:xfrm>
          <a:prstGeom prst="rect">
            <a:avLst/>
          </a:prstGeom>
        </p:spPr>
      </p:pic>
      <p:sp>
        <p:nvSpPr>
          <p:cNvPr id="492230" name=""/>
          <p:cNvSpPr txBox="1"/>
          <p:nvPr/>
        </p:nvSpPr>
        <p:spPr bwMode="auto">
          <a:xfrm rot="0" flipH="0" flipV="0">
            <a:off x="2794132" y="365124"/>
            <a:ext cx="6606882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48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Спасибо за внимание</a:t>
            </a:r>
            <a:endParaRPr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Aspect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2026-10-24T05:15:18Z</dcterms:modified>
</cp:coreProperties>
</file>