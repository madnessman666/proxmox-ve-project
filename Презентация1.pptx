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32903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2486523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10/30/2013</a:t>
            </a:fld>
            <a:endParaRPr lang="ru-RU"/>
          </a:p>
        </p:txBody>
      </p:sp>
      <p:sp>
        <p:nvSpPr>
          <p:cNvPr id="1728743519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2092630771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1026756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80022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44914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299676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5899898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8E855A-C527-CF7E-8AFC-F36E3213FA0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1225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2860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116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FAA74-7082-87DC-2E7E-5E03B23461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4360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7321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931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BA9DB-3C40-497D-89A1-6AED2452E4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17548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53730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878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4ACEF0-4363-2BD5-DB29-4ADD11A58B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3603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5090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0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955EE-1521-0BAF-0824-65CE8C625D3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0874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2803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5742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44246-2DB5-1C19-6E18-689335ED53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8233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27778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74054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8BE2A3-6787-C254-5F63-08915A5FB7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31058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679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91583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C17E2-504D-2950-9C0A-0AB7823C15D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5944F6-6524-669F-AE54-78737A1345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8961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564036790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212909508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73903312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81060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14709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38623754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2007938390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341004542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0665158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959270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879930134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111394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93400981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3527114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38397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470285235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22250757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6830002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00443946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6686796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716487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066108679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4045250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49057011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59675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47522008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49702787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39134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7050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179044922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759794191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72777653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989484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017256199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0409737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0206596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43530637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59529472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474777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190536884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7707183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236121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249647151" name="Рисунок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  <a:endParaRPr lang="ru-RU"/>
          </a:p>
        </p:txBody>
      </p:sp>
      <p:sp>
        <p:nvSpPr>
          <p:cNvPr id="30711162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58578158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71927005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1980546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42321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742472838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977211966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06073888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3401473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286569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30085895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1715210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24077752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9916566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78054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128397226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35542713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04257960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6526592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46949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2773205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pic>
        <p:nvPicPr>
          <p:cNvPr id="14583688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0"/>
            <a:ext cx="12195147" cy="8123604"/>
          </a:xfrm>
          <a:prstGeom prst="rect">
            <a:avLst/>
          </a:prstGeom>
        </p:spPr>
      </p:pic>
      <p:sp>
        <p:nvSpPr>
          <p:cNvPr id="215671031" name=""/>
          <p:cNvSpPr txBox="1"/>
          <p:nvPr/>
        </p:nvSpPr>
        <p:spPr bwMode="auto">
          <a:xfrm rot="0" flipH="0" flipV="0">
            <a:off x="718974" y="2093097"/>
            <a:ext cx="10754771" cy="30178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 b="1" i="0" u="none">
                <a:solidFill>
                  <a:srgbClr val="D4D4D4"/>
                </a:solidFill>
                <a:latin typeface="Segoe UI Semibold"/>
                <a:ea typeface="Segoe UI Semibold"/>
                <a:cs typeface="Segoe UI Semibold"/>
              </a:rPr>
              <a:t>Энтерпрайз за 0 рублей: кластеризация Proxmox VE, виртуальный роутер </a:t>
            </a:r>
            <a:endParaRPr sz="4800" b="1" i="0" u="none">
              <a:solidFill>
                <a:srgbClr val="D4D4D4"/>
              </a:solidFill>
              <a:latin typeface="Segoe UI Semibold"/>
              <a:ea typeface="Segoe UI Semibold"/>
              <a:cs typeface="Segoe UI Semibold"/>
            </a:endParaRPr>
          </a:p>
          <a:p>
            <a:pPr algn="ctr">
              <a:defRPr/>
            </a:pPr>
            <a:r>
              <a:rPr sz="4800" b="1" i="0" u="none">
                <a:solidFill>
                  <a:srgbClr val="D4D4D4"/>
                </a:solidFill>
                <a:latin typeface="Segoe UI Semibold"/>
                <a:ea typeface="Segoe UI Semibold"/>
                <a:cs typeface="Segoe UI Semibold"/>
              </a:rPr>
              <a:t>и грабли, о которых молчат</a:t>
            </a:r>
            <a:endParaRPr sz="4800"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23144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981475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-56397"/>
            <a:ext cx="12195147" cy="8123603"/>
          </a:xfrm>
          <a:prstGeom prst="rect">
            <a:avLst/>
          </a:prstGeom>
        </p:spPr>
      </p:pic>
      <p:sp>
        <p:nvSpPr>
          <p:cNvPr id="606085156" name=""/>
          <p:cNvSpPr txBox="1"/>
          <p:nvPr/>
        </p:nvSpPr>
        <p:spPr bwMode="auto">
          <a:xfrm rot="0" flipH="0" flipV="0">
            <a:off x="464358" y="244391"/>
            <a:ext cx="86610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Почему </a:t>
            </a:r>
            <a:r>
              <a:rPr lang="en-US"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ProxmoxVE?</a:t>
            </a:r>
            <a:endParaRPr/>
          </a:p>
        </p:txBody>
      </p:sp>
      <p:sp>
        <p:nvSpPr>
          <p:cNvPr id="1752470253" name=""/>
          <p:cNvSpPr txBox="1"/>
          <p:nvPr/>
        </p:nvSpPr>
        <p:spPr bwMode="auto">
          <a:xfrm rot="0" flipH="0" flipV="0">
            <a:off x="125970" y="1127960"/>
            <a:ext cx="6790882" cy="5578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01271" indent="-201271">
              <a:buAutoNum type="arabicPeriod"/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Политика Broadcom и смерть VMware: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Конские ценники, отмена бессрочных лицензий и выкручивание рук бизнесу.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Честный Open Source: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Под капотом старый добрый Debian. Никаких искусственных ограничений и платы за сокеты.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Всё-в-одном (KVM + LXC):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Полноценные виртуальные машины и легковесные контейнеры в одной веб-морде.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Поддержка энтерпрайз-хранилищ «из коробки»: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ZFS, Ceph и LVM-Thin без покупки дорогих SAN/NAS-систем.</a:t>
            </a:r>
            <a:endParaRPr sz="2000"/>
          </a:p>
          <a:p>
            <a:pPr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Киллер-фичи:</a:t>
            </a:r>
            <a:endParaRPr sz="2000"/>
          </a:p>
          <a:p>
            <a:pPr marL="201271" indent="-201271">
              <a:buAutoNum type="arabicPeriod"/>
              <a:defRPr/>
            </a:pP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Снапшоты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откат системы за 3 секунды.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Шаблоны + Cloud-Init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развёртывание нового сервера за 5 секунд.</a:t>
            </a:r>
            <a:endParaRPr sz="2000"/>
          </a:p>
          <a:p>
            <a:pPr>
              <a:defRPr/>
            </a:pPr>
            <a:r>
              <a:rPr lang="en-US"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</a:t>
            </a:r>
            <a:r>
              <a:rPr sz="20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Живая миграция и HA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- </a:t>
            </a:r>
            <a:r>
              <a:rPr sz="20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отказоустойчивость уровня Enterprise бесплатно.</a:t>
            </a:r>
            <a:endParaRPr sz="24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197531553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973873" y="1794459"/>
            <a:ext cx="5219699" cy="3467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52439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63458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-50131"/>
            <a:ext cx="12195147" cy="8123603"/>
          </a:xfrm>
          <a:prstGeom prst="rect">
            <a:avLst/>
          </a:prstGeom>
        </p:spPr>
      </p:pic>
      <p:sp>
        <p:nvSpPr>
          <p:cNvPr id="823936770" name=""/>
          <p:cNvSpPr txBox="1"/>
          <p:nvPr/>
        </p:nvSpPr>
        <p:spPr bwMode="auto">
          <a:xfrm rot="0" flipH="0" flipV="0">
            <a:off x="464358" y="244391"/>
            <a:ext cx="866497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36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Выбор файловой системы</a:t>
            </a:r>
            <a:endParaRPr/>
          </a:p>
        </p:txBody>
      </p:sp>
      <p:sp>
        <p:nvSpPr>
          <p:cNvPr id="1052803850" name=""/>
          <p:cNvSpPr txBox="1"/>
          <p:nvPr/>
        </p:nvSpPr>
        <p:spPr bwMode="auto">
          <a:xfrm rot="0" flipH="0" flipV="0">
            <a:off x="608486" y="1127960"/>
            <a:ext cx="11247833" cy="54562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Почему не ZFS (хоть он и из коробки)?</a:t>
            </a:r>
            <a:endParaRPr sz="2200"/>
          </a:p>
          <a:p>
            <a:pPr marL="327936" indent="-327936">
              <a:buAutoNum type="arabicPeriod"/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Ест оперативку: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Кэш ARC по умолчанию забирает до 50% всей RAM хоста.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Убивает потребительские SSD: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Огромный </a:t>
            </a:r>
            <a:r>
              <a:rPr sz="2200" b="0" i="1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Write Amplification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стирает бюджетные диски в труху за полгода.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Требует серверные Enterprise-диски с защитой от потери питания (PLP).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Почему наш выбор - LVM-Thin + ext4:</a:t>
            </a:r>
            <a:endParaRPr sz="2200"/>
          </a:p>
          <a:p>
            <a:pPr marL="327936" indent="-327936">
              <a:buAutoNum type="arabicPeriod"/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0% оверхеда по RAM: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Вся память достается виртуалкам, а не файловой системе.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2. Бережёт ресурс дисков: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Дешёвые SSD живут годами в обычном режиме.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3. онкие диски (Thin Provisioning):</a:t>
            </a: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 Виртуалка занимает ровно столько места, сколько реально весят данные.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4. Поддержка моментальных снапшотов.</a:t>
            </a:r>
            <a:endParaRPr sz="2200"/>
          </a:p>
          <a:p>
            <a:pPr>
              <a:defRPr/>
            </a:pPr>
            <a:r>
              <a:rPr sz="2200" b="1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Главный нюанс LVM-Thin в кластере: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Нет встроенной репликации дисков по сети (в отличие от ZFS Replication).</a:t>
            </a:r>
            <a:endParaRPr sz="2200"/>
          </a:p>
          <a:p>
            <a:pPr>
              <a:defRPr/>
            </a:pPr>
            <a:r>
              <a:rPr sz="2200" b="0" i="0" u="none">
                <a:solidFill>
                  <a:srgbClr val="D4D4D4"/>
                </a:solidFill>
                <a:latin typeface="Arial"/>
                <a:ea typeface="Arial"/>
                <a:cs typeface="Arial"/>
              </a:rPr>
              <a:t>Для живой миграции без простоя виртуалки перекачиваются по сети целиком, либо выносятся на общий NAS/NFS.</a:t>
            </a:r>
            <a:endParaRPr sz="24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1360895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2452396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8123603"/>
          </a:xfrm>
          <a:prstGeom prst="rect">
            <a:avLst/>
          </a:prstGeom>
        </p:spPr>
      </p:pic>
      <p:sp>
        <p:nvSpPr>
          <p:cNvPr id="453633371" name=""/>
          <p:cNvSpPr txBox="1"/>
          <p:nvPr/>
        </p:nvSpPr>
        <p:spPr bwMode="auto">
          <a:xfrm rot="0" flipH="0" flipV="0">
            <a:off x="464358" y="244391"/>
            <a:ext cx="86523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0: Первые команды после установки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707858355" name=""/>
          <p:cNvSpPr txBox="1"/>
          <p:nvPr/>
        </p:nvSpPr>
        <p:spPr bwMode="auto">
          <a:xfrm rot="0" flipH="0" flipV="0">
            <a:off x="395427" y="1690687"/>
            <a:ext cx="6719431" cy="41679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Сносим платный репозиторий: rm -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f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.../pve-enterprise.list
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Подключаем бесплатный: pve-no-subscription
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3.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Глушим окно подписки: скрипт sed в один клик
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⚠️ ALARM! ACHTUNG! WARNING!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⚠️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Забудь про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apt upgrade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Только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apt dist-upgrade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 Иначе: сломанные зависимости и Kernel Panic после  перезагрузки. </a:t>
            </a:r>
            <a:endParaRPr lang="ru-RU" sz="24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122873942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294144" y="838931"/>
            <a:ext cx="4762499" cy="5438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87408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727065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79883"/>
          </a:xfrm>
          <a:prstGeom prst="rect">
            <a:avLst/>
          </a:prstGeom>
        </p:spPr>
      </p:pic>
      <p:sp>
        <p:nvSpPr>
          <p:cNvPr id="1703649694" name=""/>
          <p:cNvSpPr txBox="1"/>
          <p:nvPr/>
        </p:nvSpPr>
        <p:spPr bwMode="auto">
          <a:xfrm rot="0" flipH="0" flipV="0">
            <a:off x="464358" y="244391"/>
            <a:ext cx="865201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1: Разделение сети и подготовка к роутеру</a:t>
            </a:r>
            <a:endParaRPr/>
          </a:p>
        </p:txBody>
      </p:sp>
      <p:sp>
        <p:nvSpPr>
          <p:cNvPr id="885822198" name=""/>
          <p:cNvSpPr txBox="1"/>
          <p:nvPr/>
        </p:nvSpPr>
        <p:spPr bwMode="auto">
          <a:xfrm rot="0" flipH="0" flipV="0">
            <a:off x="608486" y="1690687"/>
            <a:ext cx="5127393" cy="423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lo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lo inet loopback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eno1 inet manual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eno2 inet manual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vmbr0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vmbr0 inet static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address 192.168.1.10/24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gateway 192.168.1.1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bridge-ports eno1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bridge-stp off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bridge-fd 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bridge-vlan-aware yes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bridge-vids 2-4094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comment "LAN"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1400811250" name=""/>
          <p:cNvSpPr txBox="1"/>
          <p:nvPr/>
        </p:nvSpPr>
        <p:spPr bwMode="auto">
          <a:xfrm rot="0" flipH="0" flipV="0">
            <a:off x="4790367" y="1690687"/>
            <a:ext cx="2655708" cy="1737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auto vmbr1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iface vmbr1 inet manual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bridge-ports eno2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bridge-stp off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bridge-fd 0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   comment "WAN"</a:t>
            </a:r>
            <a:endParaRPr sz="16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053209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476198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313487136" name=""/>
          <p:cNvSpPr txBox="1"/>
          <p:nvPr/>
        </p:nvSpPr>
        <p:spPr bwMode="auto">
          <a:xfrm rot="0" flipH="0" flipV="0">
            <a:off x="464358" y="244391"/>
            <a:ext cx="865381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2: Тонкий тюнинг OPNsense и «грабля века»</a:t>
            </a:r>
            <a:r>
              <a:rPr/>
              <a:t>    </a:t>
            </a:r>
            <a:endParaRPr/>
          </a:p>
        </p:txBody>
      </p:sp>
      <p:sp>
        <p:nvSpPr>
          <p:cNvPr id="1440051753" name=""/>
          <p:cNvSpPr txBox="1"/>
          <p:nvPr/>
        </p:nvSpPr>
        <p:spPr bwMode="auto">
          <a:xfrm rot="0" flipH="0" flipV="0">
            <a:off x="608486" y="1461907"/>
            <a:ext cx="5396131" cy="4755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CPU Type =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host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(ОБЯЗАТЕЛЬНО!):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Пробрасывает инструкции процессора и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AES-NI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Без этого WireGuard или OpenVPN сожрут процессор уже на скорости 100 Мбит/с.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Сеть: VirtIO + Multiqueue: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Включаем Multiqueue = числу ядер CPU. Гипервизор начинает параллелить поток пакетов по всем ядрам, а не долбить одно.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Диск: VirtIO SCSI + галка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Discard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Включает команду TRIM для нашего LVM-Thin, чтобы удаленные логи роутера реально освобождали место на SSD.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QEMU Guest Agent: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Ставим плагин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os-qemu-guest-agent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в OPNsense для красивого отображения IP в вебке PVE и мягкого выключения без повреждения базы.</a:t>
            </a:r>
            <a:endParaRPr sz="18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849505479" name=""/>
          <p:cNvSpPr txBox="1"/>
          <p:nvPr/>
        </p:nvSpPr>
        <p:spPr bwMode="auto">
          <a:xfrm rot="0" flipH="0" flipV="0">
            <a:off x="6328179" y="1385357"/>
            <a:ext cx="5865394" cy="4831790"/>
          </a:xfrm>
          <a:prstGeom prst="rect">
            <a:avLst/>
          </a:prstGeom>
          <a:noFill/>
        </p:spPr>
        <p:txBody>
          <a:bodyPr vertOverflow="overflow" horzOverflow="overflow" vert="vert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428054389" name=""/>
          <p:cNvSpPr/>
          <p:nvPr/>
        </p:nvSpPr>
        <p:spPr bwMode="auto">
          <a:xfrm flipH="0" flipV="0">
            <a:off x="6561611" y="1461907"/>
            <a:ext cx="5586857" cy="339682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⚠️ ГРАБЛЯ ВЕКА: Checksum Offloading                                                       Симптом: Роутер работает, но интернет на клиентах умирает, картинки не грузятся, сайты открываются через один.                               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Причина: FreeBSD пытается переложить расчет сумм на чип сетевухи, а у нас VirtIO. Пакеты бьются и дропаются.                                                   ЛЕЧЕНИЕ В OPNsense: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System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➔ Settings ➔ Networking:      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Checksum Offload           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TCP Segmentation Offload (TSO) </a:t>
            </a:r>
            <a:endParaRPr lang="ru-RU"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Disable Hardware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Large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Receive Offload (LRO)   </a:t>
            </a:r>
            <a:r>
              <a:rPr sz="1000" b="0" i="0" u="none">
                <a:solidFill>
                  <a:srgbClr val="D4D4D4"/>
                </a:solidFill>
                <a:latin typeface="Courier New"/>
                <a:ea typeface="Courier New"/>
                <a:cs typeface="Courier New"/>
              </a:rPr>
              <a:t>   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89550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755147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1616602292" name=""/>
          <p:cNvSpPr txBox="1"/>
          <p:nvPr/>
        </p:nvSpPr>
        <p:spPr bwMode="auto">
          <a:xfrm rot="0" flipH="0" flipV="0">
            <a:off x="464358" y="244391"/>
            <a:ext cx="86541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ШАГ 3: Кластеризация, кворум и ловушка двух нод</a:t>
            </a:r>
            <a:endParaRPr/>
          </a:p>
        </p:txBody>
      </p:sp>
      <p:sp>
        <p:nvSpPr>
          <p:cNvPr id="1587395954" name=""/>
          <p:cNvSpPr txBox="1"/>
          <p:nvPr/>
        </p:nvSpPr>
        <p:spPr bwMode="auto">
          <a:xfrm rot="0" flipH="0" flipV="0">
            <a:off x="608486" y="1433471"/>
            <a:ext cx="8022852" cy="528805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Демократия серверов (Кворум):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Для принятия решений и записи конфигов в кластере должно быть строго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больше половины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живых голосов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50% + 1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).</a:t>
            </a:r>
            <a:endParaRPr sz="20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Ловушка двух нод (Split-Brain):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Если серверов всего два, моргание сетевого свитча делит кластер пополам (1:1).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Ни у кого нет большинства ➔ кворум потерян ➔ кластер блокирует запись конфигов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read-only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 и замирает в панике.</a:t>
            </a:r>
            <a:endParaRPr sz="20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Костыль-спаситель QDevice: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Легковесный демон на Raspberry Pi или копеечной VPS за 100 рублей. Отдаёт кластеру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третий голос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(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 ноды + 1 арбитр = 3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).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При падении одного сервера у второго </a:t>
            </a: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остаётся 2 голоса из 3 -кворум есть, кластер живёт!</a:t>
            </a:r>
            <a:endParaRPr lang="ru-RU" sz="20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Сеть Corosync:</a:t>
            </a:r>
            <a:b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20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Шлёт heartbeat-пакеты каждые пару миллисекунд. Задержка выше 30-50 мс = смерть ноды. Не гоняйте по этому линку бэкапы!</a:t>
            </a:r>
            <a:endParaRPr sz="200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pic>
        <p:nvPicPr>
          <p:cNvPr id="18741317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630259" y="1153026"/>
            <a:ext cx="3410200" cy="3410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11249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74165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967649598" name=""/>
          <p:cNvSpPr txBox="1"/>
          <p:nvPr/>
        </p:nvSpPr>
        <p:spPr bwMode="auto">
          <a:xfrm rot="0" flipH="0" flipV="0">
            <a:off x="464358" y="244391"/>
            <a:ext cx="865345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Роутер в кластере: Что делать, если нода сгорела?</a:t>
            </a:r>
            <a:endParaRPr lang="ru-RU" sz="3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  <p:sp>
        <p:nvSpPr>
          <p:cNvPr id="2120059750" name=""/>
          <p:cNvSpPr txBox="1"/>
          <p:nvPr/>
        </p:nvSpPr>
        <p:spPr bwMode="auto">
          <a:xfrm rot="0" flipH="0" flipV="0">
            <a:off x="608486" y="1585520"/>
            <a:ext cx="11237753" cy="474820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Вариант 1: Встроенный Proxmox HA (Путь ленивых)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PVE видит смерть ноды ➔ ждет таймаут 1-2 минуты ➔ стартует роутер на соседнем сервере.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Минусы: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Простой сети 2-3 минуты, обрыв всех сессий и VPN, юзеры орут.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Нюанс LVM-Thin: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Диск роутера должен лежать на общем сетевом хранилище (NFS/NAS), иначе виртуалке тупо неоткуда запуститься.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Вариант 2: Два роутера + CARP (Инженерный путь самурая)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Поднимаем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два независимых OPNsense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разных серверах:</a:t>
            </a:r>
            <a:endParaRPr lang="ru-RU"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OPNsense-Master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Ноде 1 (LAN IP: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192.168.1.2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OPNsense-Backup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 Ноде 2 (LAN IP: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192.168.1.3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)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Плавающий Virtual IP (VIP):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например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192.168.1.1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- общий шлюз для клиентов.</a:t>
            </a:r>
            <a:endParaRPr lang="ru-RU"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Протокол pfsync: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роутеры непрерывно синхронизируют таблицу открытых соединений фаервола по сети.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ea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Результат при аварии ноды:</a:t>
            </a:r>
            <a:b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Нода 1 падает ➔ второй роутер перехватывает шлюз за 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0.5 секунды</a:t>
            </a:r>
            <a:r>
              <a:rPr lang="ru-RU" sz="1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Звонки в Zoom и видеопотоки даже не заикаются.</a:t>
            </a:r>
            <a:endParaRPr sz="16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49557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962307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1573" y="6266"/>
            <a:ext cx="12195147" cy="6861759"/>
          </a:xfrm>
          <a:prstGeom prst="rect">
            <a:avLst/>
          </a:prstGeom>
        </p:spPr>
      </p:pic>
      <p:sp>
        <p:nvSpPr>
          <p:cNvPr id="127071460" name=""/>
          <p:cNvSpPr txBox="1"/>
          <p:nvPr/>
        </p:nvSpPr>
        <p:spPr bwMode="auto">
          <a:xfrm rot="0" flipH="0" flipV="0">
            <a:off x="464358" y="244391"/>
            <a:ext cx="8652377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Автоматизация: Шаблоны VM и магия Linked Clone</a:t>
            </a:r>
            <a:r>
              <a:rPr/>
              <a:t> </a:t>
            </a:r>
            <a:endParaRPr/>
          </a:p>
        </p:txBody>
      </p:sp>
      <p:sp>
        <p:nvSpPr>
          <p:cNvPr id="1015028150" name=""/>
          <p:cNvSpPr txBox="1"/>
          <p:nvPr/>
        </p:nvSpPr>
        <p:spPr bwMode="auto">
          <a:xfrm rot="0" flipH="0" flipV="0">
            <a:off x="608486" y="1433471"/>
            <a:ext cx="11234513" cy="47552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Зачем нужны шаблоны (Templates)?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Конец ручной установке ОС через ISO. Чистый образ настраивается один раз, превращается в шаблон, а дальше новые серверы клонируются за секунды.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Связанный клон (Linked Clone) против Полного (Full Clone):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Full Clone: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Независимая копия диска. Клонируется дольше, дублирует размер оригинала (жрёт место на LVM-Thin).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Linked Clone: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Базируется на механизме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Copy-on-Write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. Клон создаётся ровно за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2 секунды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!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Виртуалка читает базовую ОС из шаблона, а пишет только изменения. 10 серверов занимают не 200 ГБ, а всего 5–10 ГБ.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Магия Cloud-Init (Автоконфигурация на лету):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Прямо из веб-интерфейса Proxmox без входа в виртуалку нарезаются: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Имя хоста и пользователь.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Пароли и SSH-ключи.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Статическая сеть или DHCP.</a:t>
            </a: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Результат: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Развёртывание нового боевого сервера с Docker или базой данных занимает меньше 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10 секунд</a:t>
            </a:r>
            <a: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 в пару кликов мыши.</a:t>
            </a:r>
            <a:br>
              <a:rPr lang="ru-RU" sz="1800" b="0" i="0" u="none" strike="noStrike" cap="none" spc="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</a:br>
            <a:endParaRPr sz="1800" b="0" i="0" u="none" strike="noStrike" cap="none" spc="0"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36635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5505946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0" y="-6266"/>
            <a:ext cx="12195147" cy="6871535"/>
          </a:xfrm>
          <a:prstGeom prst="rect">
            <a:avLst/>
          </a:prstGeom>
        </p:spPr>
      </p:pic>
      <p:pic>
        <p:nvPicPr>
          <p:cNvPr id="150024338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089568" y="1690687"/>
            <a:ext cx="8016009" cy="4505261"/>
          </a:xfrm>
          <a:prstGeom prst="rect">
            <a:avLst/>
          </a:prstGeom>
        </p:spPr>
      </p:pic>
      <p:sp>
        <p:nvSpPr>
          <p:cNvPr id="397653103" name=""/>
          <p:cNvSpPr txBox="1"/>
          <p:nvPr/>
        </p:nvSpPr>
        <p:spPr bwMode="auto">
          <a:xfrm rot="0" flipH="0" flipV="0">
            <a:off x="2794132" y="365124"/>
            <a:ext cx="6606882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4800">
                <a:solidFill>
                  <a:schemeClr val="bg1"/>
                </a:solidFill>
                <a:latin typeface="Segoe UI Semibold"/>
                <a:ea typeface="Segoe UI Semibold"/>
                <a:cs typeface="Segoe UI Semibold"/>
              </a:rPr>
              <a:t>Спасибо за внимание</a:t>
            </a:r>
            <a:endParaRPr>
              <a:solidFill>
                <a:schemeClr val="bg1"/>
              </a:solidFill>
              <a:latin typeface="Segoe UI Semibold"/>
              <a:cs typeface="Segoe UI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2026-10-23T19:32:30Z</dcterms:modified>
</cp:coreProperties>
</file>